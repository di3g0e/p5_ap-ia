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199632" y="0"/>
            <a:ext cx="54864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548640"/>
            <a:ext cx="2011680" cy="2011680"/>
          </a:xfrm>
          <a:prstGeom prst="ellipse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D9"/>
                </a:solidFill>
              </a:rPr>
              <a:t>Práctica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Sistema de Autenticación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Biométrica Segura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FA"/>
                </a:solidFill>
              </a:rPr>
              <a:t>y Detección de Anomalías Financieras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Diego Esclarín  ·  Sofía Contreras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Aplicaciones de Inteligencia Artificial — URJC  ·  Curso 2025–26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</a:rPr>
              <a:t>Objetivo del Proyecto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Diseño e implementación de un sistema de autenticación biométrica facial robusto, construido bajo el paradigma Security by Design, que mitiga los dos vectores críticos de despliegue real: ataques de presentación (spoofing) y fuga de plantillas biométricas.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24028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240280"/>
            <a:ext cx="54864" cy="24231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" y="2313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🔍  Reconocimiento Facial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" y="2624328"/>
            <a:ext cx="2468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MTCNN + ArcFace / FaceNet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Embedding L2-normalizado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Comparación coseno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24028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240280"/>
            <a:ext cx="54864" cy="24231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374136" y="2313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🛡️  Detección de Vitalidad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74136" y="2624328"/>
            <a:ext cx="2468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DenseNet201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Clasificación live / spoof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Barrera previa al embedding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240280"/>
            <a:ext cx="265176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2240280"/>
            <a:ext cx="54864" cy="24231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2313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🔐  Seguridad Criptográfica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8776" y="2624328"/>
            <a:ext cx="2468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Fernet (AES-128-CBC)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PBKDF2-HMAC-SHA256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HMAC-SHA256 de integridad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Contexto del Problema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</a:rPr>
              <a:t>¿Por qué biometría facial segura?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13533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La autenticación facial se despliega masivamente en banca digital, control de acceso y plataformas de identificación remota. A diferencia de una contraseña, una plantilla biométrica comprometida es irrevocable.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084832"/>
            <a:ext cx="2651760" cy="3474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Precisión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432304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96312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Separar distribuciones genuino/impostor para garantizar FAR/FRR aceptables en el punto de operación.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2084832"/>
            <a:ext cx="2651760" cy="34747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Robustez ante ataques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2432304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496312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Fotografías impresas, pantallas y máscaras 3D son los vectores más frecuentes en entornos no controlados.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2084832"/>
            <a:ext cx="2651760" cy="34747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Protección de plantillas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2432304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2496312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Los embeddings almacenados son datos personales sensibles: confidencialidad e integridad son mandatorias.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Estado del Arte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219456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987552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Detección y alineamiento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987552"/>
            <a:ext cx="6126480" cy="658368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98755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4A"/>
                </a:solidFill>
              </a:rPr>
              <a:t>MTCNN — cascada P-Net/R-Net/O-Net, 5 landmarks para alineamiento afín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2194560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764792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Embeddings faciales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764792"/>
            <a:ext cx="61264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76479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4A"/>
                </a:solidFill>
              </a:rPr>
              <a:t>FaceNet (triplet loss, 128-D) · ArcFace (margen angular aditivo, estándar actual)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219456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542032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Liveness pasivo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06040" y="2542032"/>
            <a:ext cx="6126480" cy="658368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54203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4A"/>
                </a:solidFill>
              </a:rPr>
              <a:t>DenseNet201 — maximiza reutilización de features; detecta artefactos de pantallas e impresiones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319272"/>
            <a:ext cx="2194560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319272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Protección de plantillas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06040" y="3319272"/>
            <a:ext cx="61264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697480" y="33192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4A"/>
                </a:solidFill>
              </a:rPr>
              <a:t>Fernet (AES-128-CBC + HMAC-SHA256) + PBKDF2 según NIST SP 800-132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4096512"/>
            <a:ext cx="219456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4096512"/>
            <a:ext cx="2066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Detección de anomalías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06040" y="4096512"/>
            <a:ext cx="6126480" cy="658368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409651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4A"/>
                </a:solidFill>
              </a:rPr>
              <a:t>Isolation Forest — aislamiento aleatorio; combinado con regla 3-Sigmas para explicabilidad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Propuesta — Arquitectura General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Estructura Modular (src/)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54864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4081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data/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Carga y validación de datos faciales y financieros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3931920" cy="566928"/>
          </a:xfrm>
          <a:prstGeom prst="rect">
            <a:avLst/>
          </a:prstGeom>
          <a:solidFill>
            <a:srgbClr val="D6E8FA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29968"/>
            <a:ext cx="54864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0665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features/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Preprocesamiento CLAHE + detección MTCNN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88336"/>
            <a:ext cx="54864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7249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models/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962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Embedders, liveness (DenseNet) y anomalías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346704"/>
            <a:ext cx="3931920" cy="566928"/>
          </a:xfrm>
          <a:prstGeom prst="rect">
            <a:avLst/>
          </a:prstGeom>
          <a:solidFill>
            <a:srgbClr val="D6E8FA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346704"/>
            <a:ext cx="54864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383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evaluation/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Métricas, curvas ROC, calibración de umbrales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005072"/>
            <a:ext cx="3931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005072"/>
            <a:ext cx="54864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40416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utils/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Criptografía Fernet, PBKDF2, HMAC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960120"/>
            <a:ext cx="4114800" cy="10058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1005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⚙  config/config.yaml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13350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A"/>
                </a:solidFill>
              </a:rPr>
              <a:t>Umbrales, rutas y parámetros configurables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8FA"/>
                </a:solidFill>
              </a:rPr>
              <a:t>sin tocar el código fuente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210312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1579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CLI — main.py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17720" y="2542032"/>
            <a:ext cx="54864" cy="5303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2560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Gestión de usuarios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36592" y="28163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enroll, login, delete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200400"/>
            <a:ext cx="54864" cy="5303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4" name="Text 32"/>
          <p:cNvSpPr/>
          <p:nvPr/>
        </p:nvSpPr>
        <p:spPr>
          <a:xfrm>
            <a:off x="4736592" y="32186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Calibración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36592" y="3474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evaluate, benchmark, tune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858768"/>
            <a:ext cx="54864" cy="5303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3877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Control financiero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36592" y="41330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finance-add, finance-history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Propuesta — Pipeline de Verificación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508760" cy="12801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Detección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MTCNN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645920"/>
            <a:ext cx="256032" cy="0"/>
          </a:xfrm>
          <a:prstGeom prst="line">
            <a:avLst/>
          </a:prstGeom>
          <a:noFill/>
          <a:ln w="3175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76272" y="1005840"/>
            <a:ext cx="1508760" cy="128016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76272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76272" y="155448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Liveness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DenseNet201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85032" y="1645920"/>
            <a:ext cx="256032" cy="0"/>
          </a:xfrm>
          <a:prstGeom prst="line">
            <a:avLst/>
          </a:prstGeom>
          <a:noFill/>
          <a:ln w="31750">
            <a:solidFill>
              <a:srgbClr val="4A9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41064" y="1005840"/>
            <a:ext cx="1508760" cy="12801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41064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41064" y="155448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Norm. CLAHE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Fotométrica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645920"/>
            <a:ext cx="256032" cy="0"/>
          </a:xfrm>
          <a:prstGeom prst="line">
            <a:avLst/>
          </a:prstGeom>
          <a:noFill/>
          <a:ln w="31750">
            <a:solidFill>
              <a:srgbClr val="4A9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05856" y="1005840"/>
            <a:ext cx="1508760" cy="128016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05856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05856" y="155448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ArcFace/FaceNet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14616" y="1645920"/>
            <a:ext cx="256032" cy="0"/>
          </a:xfrm>
          <a:prstGeom prst="line">
            <a:avLst/>
          </a:prstGeom>
          <a:noFill/>
          <a:ln w="3175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0648" y="1005840"/>
            <a:ext cx="1508760" cy="128016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70648" y="1078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70648" y="155448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Comparación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Coseno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487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Esquema de Seguridad de Plantillas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" y="2907792"/>
            <a:ext cx="2029968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2907792"/>
            <a:ext cx="2029968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96265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Confidencialidad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3328416"/>
            <a:ext cx="18470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Fernet: AES-128-CBC + PKCS7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87752" y="2907792"/>
            <a:ext cx="2029968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87752" y="2907792"/>
            <a:ext cx="2029968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2679192" y="296265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Derivación de clave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79192" y="3328416"/>
            <a:ext cx="18470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PBKDF2-HMAC-SHA256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310.000 iteraciones + salt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64024" y="2907792"/>
            <a:ext cx="2029968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64024" y="2907792"/>
            <a:ext cx="2029968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4" name="Text 32"/>
          <p:cNvSpPr/>
          <p:nvPr/>
        </p:nvSpPr>
        <p:spPr>
          <a:xfrm>
            <a:off x="4855464" y="296265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Integridad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55464" y="3328416"/>
            <a:ext cx="18470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HMAC-SHA256 del embedding;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cualquier manipulación aborta login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40296" y="2907792"/>
            <a:ext cx="2029968" cy="19385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0296" y="2907792"/>
            <a:ext cx="2029968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8" name="Text 36"/>
          <p:cNvSpPr/>
          <p:nvPr/>
        </p:nvSpPr>
        <p:spPr>
          <a:xfrm>
            <a:off x="7031736" y="296265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Account Lockout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31736" y="3328416"/>
            <a:ext cx="18470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Bloqueo temporal tras 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fallos consecutivos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Resultados — Detector de Liveness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286000" cy="137160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0.9394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926080" y="960120"/>
            <a:ext cx="2286000" cy="13716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005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A"/>
                </a:solidFill>
              </a:rPr>
              <a:t>Umbral Operación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3533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0.65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577840" y="9601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Matriz de Confusión (Test)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1353312"/>
            <a:ext cx="1078992" cy="5303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35331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Pred Spoof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353312"/>
            <a:ext cx="1078992" cy="5303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135331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Pred Live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920240"/>
            <a:ext cx="1078992" cy="5303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92024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 Spoof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920240"/>
            <a:ext cx="1078992" cy="5303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92024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64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1920240"/>
            <a:ext cx="1078992" cy="53035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92024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 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2487168"/>
            <a:ext cx="1078992" cy="53035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2487168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 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487168"/>
            <a:ext cx="1078992" cy="53035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487168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 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2487168"/>
            <a:ext cx="1078992" cy="5303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2487168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63 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487168"/>
            <a:ext cx="8321040" cy="960120"/>
          </a:xfrm>
          <a:prstGeom prst="rect">
            <a:avLst/>
          </a:prstGeom>
          <a:solidFill>
            <a:srgbClr val="D6E8F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54203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4A"/>
                </a:solidFill>
              </a:rPr>
              <a:t>Dataset: Kaggle real-vs-fake-anti-spoofing-video — 3 frames/vídeo (segundos 3, 5 y 7), partición de test disjunta del entrenamiento. Separabilidad live/spoof verificada con curva ROC y distribución de scores con EER threshold.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" y="3566160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Herramientas de calibración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91363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913632"/>
            <a:ext cx="54864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" y="3950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evaluate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" y="4279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EER · ROC-AUC · F1 · TAR@FAR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27832" y="391363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27832" y="3913632"/>
            <a:ext cx="54864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3950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benchmark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55848" y="4279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Latencia y separación coseno entre backends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44184" y="391363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44184" y="3913632"/>
            <a:ext cx="54864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3950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tune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72200" y="4279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Barrido de umbrales → actualiza config.yaml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Módulo de Detección de Anomalías Financieras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</a:rPr>
              <a:t>Detector híbrido para control personal de gastos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2194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4904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📏  Regla de las 3-Sigmas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" y="1801368"/>
            <a:ext cx="3886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Detección univariante por categoría de gasto.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Fácilmente interpretable: marca transacciones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que superan μ ± 3σ en su categoría.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Aporta explicabilidad directa al usuario.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690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54864" cy="21945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14904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🌲  Isolation Forest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91456" y="1801368"/>
            <a:ext cx="38862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Detección multivariante sin supervisión.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Combina: Cantidad, Área, Tipo,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Mes y Día de la semana.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Captura patrones anómalos no univariantes.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7673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♻  Reentrenamiento Continuo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A"/>
                </a:solidFill>
              </a:rPr>
              <a:t>El modelo se reentrena tras cada transacción confirmada mediante finance-add, adaptándose continuamente al perfil del usuario sin requerir etiquetas externas. Reutiliza el histórico de transacciones de la Práctica 2.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60520" cy="160020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54864" cy="1600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097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✅  Sistema end-to-end funcional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" y="150876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A"/>
                </a:solidFill>
              </a:rPr>
              <a:t>Integración coherente de MTCNN, ArcFace/FaceNet y DenseNet201 con arquitectura modular y sustituible.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4160520" cy="160020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834640"/>
            <a:ext cx="54864" cy="1600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🔐  Seguridad by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" y="333756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A"/>
                </a:solidFill>
              </a:rPr>
              <a:t>Confidencialidad, integridad y autenticación garantizadas; Account Lockout y liveness gate reducen la superficie de ataque.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28032" y="1005840"/>
            <a:ext cx="4160520" cy="160020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005840"/>
            <a:ext cx="54864" cy="1600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1097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📊  Calibración cuantitativa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150876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A"/>
                </a:solidFill>
              </a:rPr>
              <a:t>AUC = 0.9394 con umbral óptimo 0.65; herramientas evaluate/benchmark/tune permiten ajustar FAR/FRR al contexto.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28032" y="2834640"/>
            <a:ext cx="4160520" cy="160020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2834640"/>
            <a:ext cx="54864" cy="1600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926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💡  Líneas futuras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333756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8FA"/>
                </a:solidFill>
              </a:rPr>
              <a:t>Liveness con datasets más diversos · Verificación en vídeo · Cancellable biometrics para revocar plantillas comprometidas.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5 – Autenticación Biométrica Segura</dc:title>
  <dc:subject>PptxGenJS Presentation</dc:subject>
  <dc:creator>PptxGenJS</dc:creator>
  <cp:lastModifiedBy>PptxGenJS</cp:lastModifiedBy>
  <cp:revision>1</cp:revision>
  <dcterms:created xsi:type="dcterms:W3CDTF">2026-04-27T16:37:58Z</dcterms:created>
  <dcterms:modified xsi:type="dcterms:W3CDTF">2026-04-27T16:37:58Z</dcterms:modified>
</cp:coreProperties>
</file>