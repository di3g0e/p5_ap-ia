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011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E676"/>
                </a:solidFill>
              </a:rPr>
              <a:t>Práctica 5  ·  Aplicaciones de la Inteligencia Artificial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621792"/>
            <a:ext cx="9144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SISTEMA DE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AUTENTICACIÓN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BIOMÉTRICA SEGURA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0" y="3127248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7B8FA8"/>
                </a:solidFill>
              </a:rPr>
              <a:t>y Sistema de Alerta ante Detección de Datos Anómalos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0" y="3675888"/>
            <a:ext cx="2743200" cy="0"/>
          </a:xfrm>
          <a:prstGeom prst="line">
            <a:avLst/>
          </a:prstGeom>
          <a:noFill/>
          <a:ln w="9525">
            <a:solidFill>
              <a:srgbClr val="4A6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38404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E676"/>
                </a:solidFill>
              </a:rPr>
              <a:t>AUTORES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40599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Diego Esclarín &amp; Sofía Contreras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38404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E676"/>
                </a:solidFill>
              </a:rPr>
              <a:t>FECHA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0" y="40599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Abril, 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6350">
            <a:solidFill>
              <a:srgbClr val="4A6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773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</a:rPr>
              <a:t>01 / 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6350">
            <a:solidFill>
              <a:srgbClr val="4A6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474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676"/>
                </a:solidFill>
              </a:rPr>
              <a:t>CAPÍTULO 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640080"/>
            <a:ext cx="64008" cy="65836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621792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INTRODUCCIÓN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4005072" cy="3218688"/>
          </a:xfrm>
          <a:prstGeom prst="roundRect">
            <a:avLst>
              <a:gd name="adj" fmla="val 3409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64208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</a:rPr>
              <a:t>Objetivo del Proyecto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029968"/>
            <a:ext cx="3694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8FA8"/>
                </a:solidFill>
              </a:rPr>
              <a:t>Diseño e implementación de un sistema de autenticación biométrica facial robusto, orientado a entornos de producción y construido bajo el paradigma Security by Design.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B8FA8"/>
                </a:solidFill>
              </a:rPr>
              <a:t>Integra tres pilares: reconocimiento facial, detección de vitalidad y seguridad criptográfica, junto a un módulo accesorio de detección de anomalías financieras.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27448" y="1508760"/>
            <a:ext cx="4005072" cy="3218688"/>
          </a:xfrm>
          <a:prstGeom prst="roundRect">
            <a:avLst>
              <a:gd name="adj" fmla="val 3409"/>
            </a:avLst>
          </a:prstGeom>
          <a:solidFill>
            <a:srgbClr val="111E30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82896" y="1664208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B4B"/>
                </a:solidFill>
              </a:rPr>
              <a:t>Limitaciones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82896" y="2029968"/>
            <a:ext cx="36941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4B4B"/>
                </a:solidFill>
              </a:rPr>
              <a:t>•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7B8FA8"/>
                </a:solidFill>
              </a:rPr>
              <a:t>Dependencia de la calidad de las muestras de inscripción.
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4B4B"/>
                </a:solidFill>
              </a:rPr>
              <a:t>•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7B8FA8"/>
                </a:solidFill>
              </a:rPr>
              <a:t>Sin hardware dedicado (cámaras 3D/IR) que mitigaría ataques avanzados.
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4B4B"/>
                </a:solidFill>
              </a:rPr>
              <a:t>•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7B8FA8"/>
                </a:solidFill>
              </a:rPr>
              <a:t>Detector de liveness entrenado sobre conjunto público acotado.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4773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</a:rPr>
              <a:t>02 / 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6350">
            <a:solidFill>
              <a:srgbClr val="4A6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474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676"/>
                </a:solidFill>
              </a:rPr>
              <a:t>CAPÍTULO 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640080"/>
            <a:ext cx="64008" cy="65836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621792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CONTEXTO Y MOTIVACIÓN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8FA8"/>
                </a:solidFill>
              </a:rPr>
              <a:t>La autenticación facial se despliega masivamente en banca digital, control de acceso físico y plataformas de identificación remota. A diferencia de una contraseña, una plantilla biométrica comprometida es irrevocable.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450592"/>
            <a:ext cx="2395728" cy="219456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2450592"/>
            <a:ext cx="2395728" cy="3657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603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</a:rPr>
              <a:t>Precisión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907792"/>
            <a:ext cx="21488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FA8"/>
                </a:solidFill>
              </a:rPr>
              <a:t>Separar distribuciones genuino/impostor para garantizar FAR/FRR aceptables en el punto de operación elegido.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63240" y="2450592"/>
            <a:ext cx="2395728" cy="219456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2450592"/>
            <a:ext cx="2395728" cy="36576"/>
          </a:xfrm>
          <a:prstGeom prst="rect">
            <a:avLst/>
          </a:prstGeom>
          <a:solidFill>
            <a:srgbClr val="FF4B4B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25603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B4B"/>
                </a:solidFill>
              </a:rPr>
              <a:t>Ataques de Presentación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2907792"/>
            <a:ext cx="21488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FA8"/>
                </a:solidFill>
              </a:rPr>
              <a:t>Fotografías impresas, reproductions en pantalla y máscaras 3D son los vectores más frecuentes.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715000" y="2450592"/>
            <a:ext cx="3017520" cy="219456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2450592"/>
            <a:ext cx="3017520" cy="36576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0" y="2560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EFF"/>
                </a:solidFill>
              </a:rPr>
              <a:t>Protección de Plantillas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52160" y="2907792"/>
            <a:ext cx="27432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FA8"/>
                </a:solidFill>
              </a:rPr>
              <a:t>Los embeddings almacenados son datos personales especialmente sensibles: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B8FA8"/>
                </a:solidFill>
              </a:rPr>
              <a:t>confidencialidad e integridad son mandatorias según normativa y estándares NIST.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1480" y="4773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</a:rPr>
              <a:t>03 / 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6350">
            <a:solidFill>
              <a:srgbClr val="4A6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474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676"/>
                </a:solidFill>
              </a:rPr>
              <a:t>CAPÍTULO 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640080"/>
            <a:ext cx="64008" cy="65836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621792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ESTADO DEL ARTE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8321040" cy="566928"/>
          </a:xfrm>
          <a:prstGeom prst="roundRect">
            <a:avLst>
              <a:gd name="adj" fmla="val 19355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554480"/>
            <a:ext cx="54864" cy="56692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5910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E676"/>
                </a:solidFill>
              </a:rPr>
              <a:t>DETECCIÓN &amp; ALINEAMIENTO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" y="18288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FA8"/>
                </a:solidFill>
              </a:rPr>
              <a:t>MTCNN — cascada P-Net/R-Net/O-Net, 5 landmarks faciales para alineamiento afín que estandariza pose.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212848"/>
            <a:ext cx="8321040" cy="566928"/>
          </a:xfrm>
          <a:prstGeom prst="roundRect">
            <a:avLst>
              <a:gd name="adj" fmla="val 19355"/>
            </a:avLst>
          </a:prstGeom>
          <a:solidFill>
            <a:srgbClr val="0F1C2C"/>
          </a:solidFill>
          <a:ln w="12700">
            <a:solidFill>
              <a:srgbClr val="0F1C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212848"/>
            <a:ext cx="54864" cy="56692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2494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A9EFF"/>
                </a:solidFill>
              </a:rPr>
              <a:t>EMBEDDINGS FACIALES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2487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FA8"/>
                </a:solidFill>
              </a:rPr>
              <a:t>FaceNet (triplet loss, 128-D)  ·  ArcFace (margen angular aditivo sobre softmax — estándar actual de verificación facial).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2871216"/>
            <a:ext cx="8321040" cy="566928"/>
          </a:xfrm>
          <a:prstGeom prst="roundRect">
            <a:avLst>
              <a:gd name="adj" fmla="val 19355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871216"/>
            <a:ext cx="54864" cy="566928"/>
          </a:xfrm>
          <a:prstGeom prst="rect">
            <a:avLst/>
          </a:prstGeom>
          <a:solidFill>
            <a:srgbClr val="B06EFF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9077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06EFF"/>
                </a:solidFill>
              </a:rPr>
              <a:t>LIVENESS PASIVO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" y="31455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FA8"/>
                </a:solidFill>
              </a:rPr>
              <a:t>DenseNet201 — reutilización máxima de features en distintas escalas; detecta artefactos de moiré, impresiones y pantallas.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3529584"/>
            <a:ext cx="8321040" cy="566928"/>
          </a:xfrm>
          <a:prstGeom prst="roundRect">
            <a:avLst>
              <a:gd name="adj" fmla="val 19355"/>
            </a:avLst>
          </a:prstGeom>
          <a:solidFill>
            <a:srgbClr val="0F1C2C"/>
          </a:solidFill>
          <a:ln w="12700">
            <a:solidFill>
              <a:srgbClr val="0F1C2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529584"/>
            <a:ext cx="54864" cy="56692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5661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E676"/>
                </a:solidFill>
              </a:rPr>
              <a:t>PROTECCIÓN DE PLANTILLAS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6928" y="38039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FA8"/>
                </a:solidFill>
              </a:rPr>
              <a:t>Fernet (AES-128-CBC + HMAC-SHA256)  +  PBKDF2-HMAC-SHA256 (310.000 iteraciones) según NIST SP 800-132.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4187952"/>
            <a:ext cx="8321040" cy="566928"/>
          </a:xfrm>
          <a:prstGeom prst="roundRect">
            <a:avLst>
              <a:gd name="adj" fmla="val 19355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4187952"/>
            <a:ext cx="54864" cy="56692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224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A9EFF"/>
                </a:solidFill>
              </a:rPr>
              <a:t>DETECCIÓN DE ANOMALÍAS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6928" y="44622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FA8"/>
                </a:solidFill>
              </a:rPr>
              <a:t>Isolation Forest — aislamiento aleatorio; combinado con regla 3-Sigmas para explicabilidad univariante y detección multivariante.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11480" y="4773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</a:rPr>
              <a:t>04 / 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6350">
            <a:solidFill>
              <a:srgbClr val="4A6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E676"/>
                </a:solidFill>
              </a:rPr>
              <a:t>CAPÍTULO 4: PROPUESTA TÉCNICA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457200"/>
            <a:ext cx="64008" cy="65836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438912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ARQUITECTURA GENERAL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05840" y="1719072"/>
            <a:ext cx="7132320" cy="0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481328"/>
            <a:ext cx="475488" cy="47548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4996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929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" y="200253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E676"/>
                </a:solidFill>
              </a:rPr>
              <a:t>INICIO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56816" y="1481328"/>
            <a:ext cx="475488" cy="475488"/>
          </a:xfrm>
          <a:prstGeom prst="ellipse">
            <a:avLst/>
          </a:prstGeom>
          <a:solidFill>
            <a:srgbClr val="0F1C2C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56816" y="14996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080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73936" y="200253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</a:rPr>
              <a:t>INTERACCIÓN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45536" y="1481328"/>
            <a:ext cx="475488" cy="475488"/>
          </a:xfrm>
          <a:prstGeom prst="ellipse">
            <a:avLst/>
          </a:prstGeom>
          <a:solidFill>
            <a:srgbClr val="0F1C2C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45536" y="14996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080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62656" y="200253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</a:rPr>
              <a:t>LIVENESS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34256" y="1481328"/>
            <a:ext cx="475488" cy="475488"/>
          </a:xfrm>
          <a:prstGeom prst="ellipse">
            <a:avLst/>
          </a:prstGeom>
          <a:solidFill>
            <a:srgbClr val="0F1C2C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34256" y="14996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080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51376" y="200253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</a:rPr>
              <a:t>EMBEDDING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522976" y="1481328"/>
            <a:ext cx="475488" cy="475488"/>
          </a:xfrm>
          <a:prstGeom prst="ellipse">
            <a:avLst/>
          </a:prstGeom>
          <a:solidFill>
            <a:srgbClr val="0F1C2C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22976" y="14996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080"/>
                </a:solidFill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40096" y="200253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</a:rPr>
              <a:t>SEGURIDAD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11696" y="1481328"/>
            <a:ext cx="475488" cy="475488"/>
          </a:xfrm>
          <a:prstGeom prst="ellipse">
            <a:avLst/>
          </a:prstGeom>
          <a:solidFill>
            <a:srgbClr val="0F1C2C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11696" y="14996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080"/>
                </a:solidFill>
              </a:rPr>
              <a:t>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28816" y="200253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</a:rPr>
              <a:t>FINANZAS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900416" y="1481328"/>
            <a:ext cx="475488" cy="475488"/>
          </a:xfrm>
          <a:prstGeom prst="ellipse">
            <a:avLst/>
          </a:prstGeom>
          <a:solidFill>
            <a:srgbClr val="0F1C2C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0416" y="14996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080"/>
                </a:solidFill>
              </a:rPr>
              <a:t>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17536" y="200253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</a:rPr>
              <a:t>CICLO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1480" y="224942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Estructura Modular  src/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11480" y="2633472"/>
            <a:ext cx="3931920" cy="384048"/>
          </a:xfrm>
          <a:prstGeom prst="roundRect">
            <a:avLst>
              <a:gd name="adj" fmla="val 28571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2633472"/>
            <a:ext cx="54864" cy="38404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26517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</a:rPr>
              <a:t>data/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2834640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FA8"/>
                </a:solidFill>
              </a:rPr>
              <a:t>Carga y validación de datos faciales y financieros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1480" y="3090672"/>
            <a:ext cx="3931920" cy="384048"/>
          </a:xfrm>
          <a:prstGeom prst="roundRect">
            <a:avLst>
              <a:gd name="adj" fmla="val 28571"/>
            </a:avLst>
          </a:prstGeom>
          <a:solidFill>
            <a:srgbClr val="0F1C2C"/>
          </a:solidFill>
          <a:ln w="12700">
            <a:solidFill>
              <a:srgbClr val="0F1C2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090672"/>
            <a:ext cx="54864" cy="38404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31089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features/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3291840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FA8"/>
                </a:solidFill>
              </a:rPr>
              <a:t>Preprocesamiento CLAHE + detección MTCNN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11480" y="3547872"/>
            <a:ext cx="3931920" cy="384048"/>
          </a:xfrm>
          <a:prstGeom prst="roundRect">
            <a:avLst>
              <a:gd name="adj" fmla="val 28571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3547872"/>
            <a:ext cx="54864" cy="384048"/>
          </a:xfrm>
          <a:prstGeom prst="rect">
            <a:avLst/>
          </a:prstGeom>
          <a:solidFill>
            <a:srgbClr val="B06EFF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35661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6EFF"/>
                </a:solidFill>
              </a:rPr>
              <a:t>models/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3749040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FA8"/>
                </a:solidFill>
              </a:rPr>
              <a:t>Embedders (ArcFace/FaceNet), liveness, anomalías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1480" y="4005072"/>
            <a:ext cx="3931920" cy="384048"/>
          </a:xfrm>
          <a:prstGeom prst="roundRect">
            <a:avLst>
              <a:gd name="adj" fmla="val 28571"/>
            </a:avLst>
          </a:prstGeom>
          <a:solidFill>
            <a:srgbClr val="0F1C2C"/>
          </a:solidFill>
          <a:ln w="12700">
            <a:solidFill>
              <a:srgbClr val="0F1C2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" y="4005072"/>
            <a:ext cx="54864" cy="38404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4023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</a:rPr>
              <a:t>evaluation/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4206240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FA8"/>
                </a:solidFill>
              </a:rPr>
              <a:t>Métricas, ROC, calibración de umbrales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1480" y="4462272"/>
            <a:ext cx="3931920" cy="384048"/>
          </a:xfrm>
          <a:prstGeom prst="roundRect">
            <a:avLst>
              <a:gd name="adj" fmla="val 28571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1480" y="4462272"/>
            <a:ext cx="54864" cy="38404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44805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utils/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8640" y="4663440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FA8"/>
                </a:solidFill>
              </a:rPr>
              <a:t>Criptografía Fernet, PBKDF2, HMAC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17720" y="2249424"/>
            <a:ext cx="4114800" cy="987552"/>
          </a:xfrm>
          <a:prstGeom prst="roundRect">
            <a:avLst>
              <a:gd name="adj" fmla="val 11111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17720" y="2249424"/>
            <a:ext cx="4114800" cy="3657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51" name="Text 49"/>
          <p:cNvSpPr/>
          <p:nvPr/>
        </p:nvSpPr>
        <p:spPr>
          <a:xfrm>
            <a:off x="4754880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</a:rPr>
              <a:t>⚙  config/config.yaml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754880" y="263347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FA8"/>
                </a:solidFill>
              </a:rPr>
              <a:t>Umbrales, rutas y parámetros ajustables sin modificar el código fuente.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617720" y="334670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 — main.py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617720" y="3712464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17720" y="3712464"/>
            <a:ext cx="54864" cy="347472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56" name="Text 54"/>
          <p:cNvSpPr/>
          <p:nvPr/>
        </p:nvSpPr>
        <p:spPr>
          <a:xfrm>
            <a:off x="4736592" y="37307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</a:rPr>
              <a:t>Gestión de usuarios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736592" y="389534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FA8"/>
                </a:solidFill>
              </a:rPr>
              <a:t>enroll · login · delete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617720" y="4133088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0F1C2C"/>
          </a:solidFill>
          <a:ln w="12700">
            <a:solidFill>
              <a:srgbClr val="0F1C2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17720" y="4133088"/>
            <a:ext cx="54864" cy="347472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60" name="Text 58"/>
          <p:cNvSpPr/>
          <p:nvPr/>
        </p:nvSpPr>
        <p:spPr>
          <a:xfrm>
            <a:off x="4736592" y="41513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EFF"/>
                </a:solidFill>
              </a:rPr>
              <a:t>Calibración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736592" y="431596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FA8"/>
                </a:solidFill>
              </a:rPr>
              <a:t>evaluate · benchmark · tune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617720" y="4553712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17720" y="4553712"/>
            <a:ext cx="54864" cy="347472"/>
          </a:xfrm>
          <a:prstGeom prst="rect">
            <a:avLst/>
          </a:prstGeom>
          <a:solidFill>
            <a:srgbClr val="B06EFF"/>
          </a:solidFill>
          <a:ln/>
        </p:spPr>
      </p:sp>
      <p:sp>
        <p:nvSpPr>
          <p:cNvPr id="64" name="Text 62"/>
          <p:cNvSpPr/>
          <p:nvPr/>
        </p:nvSpPr>
        <p:spPr>
          <a:xfrm>
            <a:off x="4736592" y="45720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6EFF"/>
                </a:solidFill>
              </a:rPr>
              <a:t>Control financiero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736592" y="473659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FA8"/>
                </a:solidFill>
              </a:rPr>
              <a:t>finance-add · finance-history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11480" y="4773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</a:rPr>
              <a:t>05 / 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6350">
            <a:solidFill>
              <a:srgbClr val="4A6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E676"/>
                </a:solidFill>
              </a:rPr>
              <a:t>CAPÍTULO 4: PROPUESTA TÉCNICA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457200"/>
            <a:ext cx="64008" cy="65836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438912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PIPELINE: INICIO E INTERACCIÓN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05840" y="1719072"/>
            <a:ext cx="7132320" cy="0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481328"/>
            <a:ext cx="475488" cy="47548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4996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929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" y="200253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E676"/>
                </a:solidFill>
              </a:rPr>
              <a:t>INICIO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05840" y="1719072"/>
            <a:ext cx="1188720" cy="0"/>
          </a:xfrm>
          <a:prstGeom prst="line">
            <a:avLst/>
          </a:prstGeom>
          <a:noFill/>
          <a:ln w="12700">
            <a:solidFill>
              <a:srgbClr val="00E67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56816" y="1481328"/>
            <a:ext cx="475488" cy="47548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56816" y="14996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929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73936" y="200253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E676"/>
                </a:solidFill>
              </a:rPr>
              <a:t>INTERACCIÓN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94560" y="1719072"/>
            <a:ext cx="1188720" cy="0"/>
          </a:xfrm>
          <a:prstGeom prst="line">
            <a:avLst/>
          </a:prstGeom>
          <a:noFill/>
          <a:ln w="12700">
            <a:solidFill>
              <a:srgbClr val="00E67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45536" y="1481328"/>
            <a:ext cx="475488" cy="47548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45536" y="14996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929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62656" y="200253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E676"/>
                </a:solidFill>
              </a:rPr>
              <a:t>LIVENESS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34256" y="1481328"/>
            <a:ext cx="475488" cy="475488"/>
          </a:xfrm>
          <a:prstGeom prst="ellipse">
            <a:avLst/>
          </a:prstGeom>
          <a:solidFill>
            <a:srgbClr val="0F1C2C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34256" y="14996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080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51376" y="200253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</a:rPr>
              <a:t>EMBEDDING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522976" y="1481328"/>
            <a:ext cx="475488" cy="475488"/>
          </a:xfrm>
          <a:prstGeom prst="ellipse">
            <a:avLst/>
          </a:prstGeom>
          <a:solidFill>
            <a:srgbClr val="0F1C2C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22976" y="14996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080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0096" y="200253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</a:rPr>
              <a:t>SEGURIDAD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711696" y="1481328"/>
            <a:ext cx="475488" cy="475488"/>
          </a:xfrm>
          <a:prstGeom prst="ellipse">
            <a:avLst/>
          </a:prstGeom>
          <a:solidFill>
            <a:srgbClr val="0F1C2C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11696" y="14996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080"/>
                </a:solidFill>
              </a:rPr>
              <a:t>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28816" y="200253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</a:rPr>
              <a:t>FINANZAS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900416" y="1481328"/>
            <a:ext cx="475488" cy="475488"/>
          </a:xfrm>
          <a:prstGeom prst="ellipse">
            <a:avLst/>
          </a:prstGeom>
          <a:solidFill>
            <a:srgbClr val="0F1C2C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00416" y="14996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080"/>
                </a:solidFill>
              </a:rPr>
              <a:t>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17536" y="200253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</a:rPr>
              <a:t>CICLO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1480" y="2286000"/>
            <a:ext cx="1554480" cy="1536192"/>
          </a:xfrm>
          <a:prstGeom prst="roundRect">
            <a:avLst>
              <a:gd name="adj" fmla="val 7143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2286000"/>
            <a:ext cx="1554480" cy="3657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2" name="Shape 30"/>
          <p:cNvSpPr/>
          <p:nvPr/>
        </p:nvSpPr>
        <p:spPr>
          <a:xfrm>
            <a:off x="932688" y="2377440"/>
            <a:ext cx="512064" cy="512064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33" name="Text 31"/>
          <p:cNvSpPr/>
          <p:nvPr/>
        </p:nvSpPr>
        <p:spPr>
          <a:xfrm>
            <a:off x="93268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929"/>
                </a:solidFill>
              </a:rPr>
              <a:t>1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84632" y="2962656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Detección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MTCNN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" y="3456432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8FA8"/>
                </a:solidFill>
              </a:rPr>
              <a:t>5 landmarks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B8FA8"/>
                </a:solidFill>
              </a:rPr>
              <a:t>alineamiento afín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965960" y="3054096"/>
            <a:ext cx="214884" cy="0"/>
          </a:xfrm>
          <a:prstGeom prst="line">
            <a:avLst/>
          </a:prstGeom>
          <a:noFill/>
          <a:ln w="19050">
            <a:solidFill>
              <a:srgbClr val="00E67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80844" y="2286000"/>
            <a:ext cx="1554480" cy="1536192"/>
          </a:xfrm>
          <a:prstGeom prst="roundRect">
            <a:avLst>
              <a:gd name="adj" fmla="val 7143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80844" y="2286000"/>
            <a:ext cx="1554480" cy="36576"/>
          </a:xfrm>
          <a:prstGeom prst="rect">
            <a:avLst/>
          </a:prstGeom>
          <a:solidFill>
            <a:srgbClr val="FF4B4B"/>
          </a:solidFill>
          <a:ln/>
        </p:spPr>
      </p:sp>
      <p:sp>
        <p:nvSpPr>
          <p:cNvPr id="39" name="Shape 37"/>
          <p:cNvSpPr/>
          <p:nvPr/>
        </p:nvSpPr>
        <p:spPr>
          <a:xfrm>
            <a:off x="2702052" y="2377440"/>
            <a:ext cx="512064" cy="512064"/>
          </a:xfrm>
          <a:prstGeom prst="ellipse">
            <a:avLst/>
          </a:prstGeom>
          <a:solidFill>
            <a:srgbClr val="FF4B4B"/>
          </a:solidFill>
          <a:ln/>
        </p:spPr>
      </p:sp>
      <p:sp>
        <p:nvSpPr>
          <p:cNvPr id="40" name="Text 38"/>
          <p:cNvSpPr/>
          <p:nvPr/>
        </p:nvSpPr>
        <p:spPr>
          <a:xfrm>
            <a:off x="2702052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929"/>
                </a:solidFill>
              </a:rPr>
              <a:t>2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2253996" y="2962656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Liveness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DenseNet201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253996" y="3456432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8FA8"/>
                </a:solidFill>
              </a:rPr>
              <a:t>Barrera previa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B8FA8"/>
                </a:solidFill>
              </a:rPr>
              <a:t>live / spoof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735324" y="3054096"/>
            <a:ext cx="214884" cy="0"/>
          </a:xfrm>
          <a:prstGeom prst="line">
            <a:avLst/>
          </a:prstGeom>
          <a:noFill/>
          <a:ln w="19050">
            <a:solidFill>
              <a:srgbClr val="00E67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50208" y="2286000"/>
            <a:ext cx="1554480" cy="1536192"/>
          </a:xfrm>
          <a:prstGeom prst="roundRect">
            <a:avLst>
              <a:gd name="adj" fmla="val 7143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950208" y="2286000"/>
            <a:ext cx="1554480" cy="36576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6" name="Shape 44"/>
          <p:cNvSpPr/>
          <p:nvPr/>
        </p:nvSpPr>
        <p:spPr>
          <a:xfrm>
            <a:off x="4471416" y="2377440"/>
            <a:ext cx="512064" cy="512064"/>
          </a:xfrm>
          <a:prstGeom prst="ellipse">
            <a:avLst/>
          </a:prstGeom>
          <a:solidFill>
            <a:srgbClr val="4A9EFF"/>
          </a:solidFill>
          <a:ln/>
        </p:spPr>
      </p:sp>
      <p:sp>
        <p:nvSpPr>
          <p:cNvPr id="47" name="Text 45"/>
          <p:cNvSpPr/>
          <p:nvPr/>
        </p:nvSpPr>
        <p:spPr>
          <a:xfrm>
            <a:off x="4471416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929"/>
                </a:solidFill>
              </a:rPr>
              <a:t>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023360" y="2962656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Norm.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CLAHE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023360" y="3456432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8FA8"/>
                </a:solidFill>
              </a:rPr>
              <a:t>Solo si supera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B8FA8"/>
                </a:solidFill>
              </a:rPr>
              <a:t>liveness gate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504688" y="3054096"/>
            <a:ext cx="214884" cy="0"/>
          </a:xfrm>
          <a:prstGeom prst="line">
            <a:avLst/>
          </a:prstGeom>
          <a:noFill/>
          <a:ln w="19050">
            <a:solidFill>
              <a:srgbClr val="00E67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19572" y="2286000"/>
            <a:ext cx="1554480" cy="1536192"/>
          </a:xfrm>
          <a:prstGeom prst="roundRect">
            <a:avLst>
              <a:gd name="adj" fmla="val 7143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19572" y="2286000"/>
            <a:ext cx="1554480" cy="36576"/>
          </a:xfrm>
          <a:prstGeom prst="rect">
            <a:avLst/>
          </a:prstGeom>
          <a:solidFill>
            <a:srgbClr val="B06EFF"/>
          </a:solidFill>
          <a:ln/>
        </p:spPr>
      </p:sp>
      <p:sp>
        <p:nvSpPr>
          <p:cNvPr id="53" name="Shape 51"/>
          <p:cNvSpPr/>
          <p:nvPr/>
        </p:nvSpPr>
        <p:spPr>
          <a:xfrm>
            <a:off x="6240780" y="2377440"/>
            <a:ext cx="512064" cy="512064"/>
          </a:xfrm>
          <a:prstGeom prst="ellipse">
            <a:avLst/>
          </a:prstGeom>
          <a:solidFill>
            <a:srgbClr val="B06EFF"/>
          </a:solidFill>
          <a:ln/>
        </p:spPr>
      </p:sp>
      <p:sp>
        <p:nvSpPr>
          <p:cNvPr id="54" name="Text 52"/>
          <p:cNvSpPr/>
          <p:nvPr/>
        </p:nvSpPr>
        <p:spPr>
          <a:xfrm>
            <a:off x="6240780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929"/>
                </a:solidFill>
              </a:rPr>
              <a:t>4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792724" y="2962656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Embedding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ArcFace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792724" y="3456432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8FA8"/>
                </a:solidFill>
              </a:rPr>
              <a:t>Vector 512-D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B8FA8"/>
                </a:solidFill>
              </a:rPr>
              <a:t>L2-normalizado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274052" y="3054096"/>
            <a:ext cx="214884" cy="0"/>
          </a:xfrm>
          <a:prstGeom prst="line">
            <a:avLst/>
          </a:prstGeom>
          <a:noFill/>
          <a:ln w="19050">
            <a:solidFill>
              <a:srgbClr val="00E67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88936" y="2286000"/>
            <a:ext cx="1554480" cy="1536192"/>
          </a:xfrm>
          <a:prstGeom prst="roundRect">
            <a:avLst>
              <a:gd name="adj" fmla="val 7143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88936" y="2286000"/>
            <a:ext cx="1554480" cy="3657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60" name="Shape 58"/>
          <p:cNvSpPr/>
          <p:nvPr/>
        </p:nvSpPr>
        <p:spPr>
          <a:xfrm>
            <a:off x="8010144" y="2377440"/>
            <a:ext cx="512064" cy="512064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61" name="Text 59"/>
          <p:cNvSpPr/>
          <p:nvPr/>
        </p:nvSpPr>
        <p:spPr>
          <a:xfrm>
            <a:off x="8010144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929"/>
                </a:solidFill>
              </a:rPr>
              <a:t>5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562088" y="2962656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Coseno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Verificación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562088" y="3456432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8FA8"/>
                </a:solidFill>
              </a:rPr>
              <a:t>Acepta/rechaza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B8FA8"/>
                </a:solidFill>
              </a:rPr>
              <a:t>vs. plantilla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11480" y="3950208"/>
            <a:ext cx="8321040" cy="786384"/>
          </a:xfrm>
          <a:prstGeom prst="roundRect">
            <a:avLst>
              <a:gd name="adj" fmla="val 13953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11480" y="3950208"/>
            <a:ext cx="54864" cy="786384"/>
          </a:xfrm>
          <a:prstGeom prst="rect">
            <a:avLst/>
          </a:prstGeom>
          <a:solidFill>
            <a:srgbClr val="FF4B4B"/>
          </a:solidFill>
          <a:ln/>
        </p:spPr>
      </p:sp>
      <p:sp>
        <p:nvSpPr>
          <p:cNvPr id="66" name="Text 64"/>
          <p:cNvSpPr/>
          <p:nvPr/>
        </p:nvSpPr>
        <p:spPr>
          <a:xfrm>
            <a:off x="566928" y="39867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4B4B"/>
                </a:solidFill>
              </a:rPr>
              <a:t>Account Lockout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566928" y="424281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FA8"/>
                </a:solidFill>
              </a:rPr>
              <a:t>En caso de rechazo se incrementa un contador por usuario que activa un bloqueo temporal tras N fallos consecutivos, mitigando ataques de fuerza bruta sobre el verificador.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11480" y="4773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</a:rPr>
              <a:t>06 / 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6350">
            <a:solidFill>
              <a:srgbClr val="4A6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E676"/>
                </a:solidFill>
              </a:rPr>
              <a:t>CAPÍTULO 4: PROPUESTA TÉCNICA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457200"/>
            <a:ext cx="64008" cy="65836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438912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PIPELINE: SEGURIDAD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05840" y="1719072"/>
            <a:ext cx="7132320" cy="0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481328"/>
            <a:ext cx="475488" cy="47548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4996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929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" y="200253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E676"/>
                </a:solidFill>
              </a:rPr>
              <a:t>INICIO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05840" y="1719072"/>
            <a:ext cx="1188720" cy="0"/>
          </a:xfrm>
          <a:prstGeom prst="line">
            <a:avLst/>
          </a:prstGeom>
          <a:noFill/>
          <a:ln w="12700">
            <a:solidFill>
              <a:srgbClr val="00E67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56816" y="1481328"/>
            <a:ext cx="475488" cy="47548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56816" y="14996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929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73936" y="200253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E676"/>
                </a:solidFill>
              </a:rPr>
              <a:t>INTERACCIÓN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94560" y="1719072"/>
            <a:ext cx="1188720" cy="0"/>
          </a:xfrm>
          <a:prstGeom prst="line">
            <a:avLst/>
          </a:prstGeom>
          <a:noFill/>
          <a:ln w="12700">
            <a:solidFill>
              <a:srgbClr val="00E67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45536" y="1481328"/>
            <a:ext cx="475488" cy="47548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45536" y="14996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929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62656" y="200253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E676"/>
                </a:solidFill>
              </a:rPr>
              <a:t>LIVENESS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83280" y="1719072"/>
            <a:ext cx="1188720" cy="0"/>
          </a:xfrm>
          <a:prstGeom prst="line">
            <a:avLst/>
          </a:prstGeom>
          <a:noFill/>
          <a:ln w="12700">
            <a:solidFill>
              <a:srgbClr val="00E67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34256" y="1481328"/>
            <a:ext cx="475488" cy="47548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34256" y="14996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929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51376" y="200253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E676"/>
                </a:solidFill>
              </a:rPr>
              <a:t>EMBEDDING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0" y="1719072"/>
            <a:ext cx="1188720" cy="0"/>
          </a:xfrm>
          <a:prstGeom prst="line">
            <a:avLst/>
          </a:prstGeom>
          <a:noFill/>
          <a:ln w="12700">
            <a:solidFill>
              <a:srgbClr val="00E67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22976" y="1481328"/>
            <a:ext cx="475488" cy="47548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22976" y="14996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929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40096" y="200253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E676"/>
                </a:solidFill>
              </a:rPr>
              <a:t>SEGURIDAD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711696" y="1481328"/>
            <a:ext cx="475488" cy="475488"/>
          </a:xfrm>
          <a:prstGeom prst="ellipse">
            <a:avLst/>
          </a:prstGeom>
          <a:solidFill>
            <a:srgbClr val="0F1C2C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11696" y="14996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080"/>
                </a:solidFill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28816" y="200253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</a:rPr>
              <a:t>FINANZAS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900416" y="1481328"/>
            <a:ext cx="475488" cy="475488"/>
          </a:xfrm>
          <a:prstGeom prst="ellipse">
            <a:avLst/>
          </a:prstGeom>
          <a:solidFill>
            <a:srgbClr val="0F1C2C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00416" y="14996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080"/>
                </a:solidFill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17536" y="200253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</a:rPr>
              <a:t>CICLO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11480" y="2286000"/>
            <a:ext cx="2724912" cy="2505456"/>
          </a:xfrm>
          <a:prstGeom prst="roundRect">
            <a:avLst>
              <a:gd name="adj" fmla="val 4380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2286000"/>
            <a:ext cx="2724912" cy="3657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4" name="Shape 32"/>
          <p:cNvSpPr/>
          <p:nvPr/>
        </p:nvSpPr>
        <p:spPr>
          <a:xfrm>
            <a:off x="1517904" y="2395728"/>
            <a:ext cx="512064" cy="512064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35" name="Text 33"/>
          <p:cNvSpPr/>
          <p:nvPr/>
        </p:nvSpPr>
        <p:spPr>
          <a:xfrm>
            <a:off x="1517904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929"/>
                </a:solidFill>
              </a:rPr>
              <a:t>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1208" y="2980944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Confidencialidad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1208" y="3264408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E676"/>
                </a:solidFill>
              </a:rPr>
              <a:t>Fernet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9496" y="3529584"/>
            <a:ext cx="2468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8FA8"/>
                </a:solidFill>
              </a:rPr>
              <a:t>Cada embedding se serializa y cifra con Fernet (AES-128-CBC + PKCS7). Ninguna plantilla toca el disco en texto plano.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319272" y="2286000"/>
            <a:ext cx="2724912" cy="2505456"/>
          </a:xfrm>
          <a:prstGeom prst="roundRect">
            <a:avLst>
              <a:gd name="adj" fmla="val 4380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19272" y="2286000"/>
            <a:ext cx="2724912" cy="36576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425696" y="2395728"/>
            <a:ext cx="512064" cy="512064"/>
          </a:xfrm>
          <a:prstGeom prst="ellipse">
            <a:avLst/>
          </a:prstGeom>
          <a:solidFill>
            <a:srgbClr val="4A9EFF"/>
          </a:solidFill>
          <a:ln/>
        </p:spPr>
      </p:sp>
      <p:sp>
        <p:nvSpPr>
          <p:cNvPr id="42" name="Text 40"/>
          <p:cNvSpPr/>
          <p:nvPr/>
        </p:nvSpPr>
        <p:spPr>
          <a:xfrm>
            <a:off x="4425696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929"/>
                </a:solidFill>
              </a:rPr>
              <a:t>2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429000" y="2980944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Derivación de Clave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429000" y="3264408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9EFF"/>
                </a:solidFill>
              </a:rPr>
              <a:t>PBKDF2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447288" y="3529584"/>
            <a:ext cx="2468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8FA8"/>
                </a:solidFill>
              </a:rPr>
              <a:t>La clave Fernet se obtiene mediante PBKDF2-HMAC-SHA256 con 310.000 iteraciones y salt aleatorio persistido, conforme a NIST SP 800-132.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27064" y="2286000"/>
            <a:ext cx="2724912" cy="2505456"/>
          </a:xfrm>
          <a:prstGeom prst="roundRect">
            <a:avLst>
              <a:gd name="adj" fmla="val 4380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27064" y="2286000"/>
            <a:ext cx="2724912" cy="36576"/>
          </a:xfrm>
          <a:prstGeom prst="rect">
            <a:avLst/>
          </a:prstGeom>
          <a:solidFill>
            <a:srgbClr val="B06EFF"/>
          </a:solidFill>
          <a:ln/>
        </p:spPr>
      </p:sp>
      <p:sp>
        <p:nvSpPr>
          <p:cNvPr id="48" name="Shape 46"/>
          <p:cNvSpPr/>
          <p:nvPr/>
        </p:nvSpPr>
        <p:spPr>
          <a:xfrm>
            <a:off x="7333488" y="2395728"/>
            <a:ext cx="512064" cy="512064"/>
          </a:xfrm>
          <a:prstGeom prst="ellipse">
            <a:avLst/>
          </a:prstGeom>
          <a:solidFill>
            <a:srgbClr val="B06EFF"/>
          </a:solidFill>
          <a:ln/>
        </p:spPr>
      </p:sp>
      <p:sp>
        <p:nvSpPr>
          <p:cNvPr id="49" name="Text 47"/>
          <p:cNvSpPr/>
          <p:nvPr/>
        </p:nvSpPr>
        <p:spPr>
          <a:xfrm>
            <a:off x="7333488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929"/>
                </a:solidFill>
              </a:rPr>
              <a:t>3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36792" y="2980944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Integridad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336792" y="3264408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6EFF"/>
                </a:solidFill>
              </a:rPr>
              <a:t>HMAC-SHA256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355080" y="3529584"/>
            <a:ext cx="2468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8FA8"/>
                </a:solidFill>
              </a:rPr>
              <a:t>Junto al ciphertext se almacena un HMAC-SHA256 del embedding en plano. Cualquier manipulación del fichero de base de datos invalida y aborta el login.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11480" y="4773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</a:rPr>
              <a:t>07 / 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6350">
            <a:solidFill>
              <a:srgbClr val="4A6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E676"/>
                </a:solidFill>
              </a:rPr>
              <a:t>CAPÍTULO 4: PROPUESTA TÉCNICA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457200"/>
            <a:ext cx="64008" cy="65836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438912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RESULTADOS: DETECTOR DE LIVENESS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2377440" cy="1572768"/>
          </a:xfrm>
          <a:prstGeom prst="roundRect">
            <a:avLst>
              <a:gd name="adj" fmla="val 6977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508760"/>
            <a:ext cx="2377440" cy="3657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572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00E676"/>
                </a:solidFill>
              </a:rPr>
              <a:t>AUC — ROC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0.9394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11480" y="259689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8FA8"/>
                </a:solidFill>
              </a:rPr>
              <a:t>Área bajo curva ROC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35808" y="1508760"/>
            <a:ext cx="2377440" cy="1572768"/>
          </a:xfrm>
          <a:prstGeom prst="roundRect">
            <a:avLst>
              <a:gd name="adj" fmla="val 6977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35808" y="1508760"/>
            <a:ext cx="2377440" cy="36576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13" name="Text 11"/>
          <p:cNvSpPr/>
          <p:nvPr/>
        </p:nvSpPr>
        <p:spPr>
          <a:xfrm>
            <a:off x="3035808" y="1572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4A9EFF"/>
                </a:solidFill>
              </a:rPr>
              <a:t>UMBRAL OPERACIÓN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35808" y="182880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0.65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035808" y="259689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8FA8"/>
                </a:solidFill>
              </a:rPr>
              <a:t>Punto EER seleccionado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0" y="14813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E676"/>
                </a:solidFill>
              </a:rPr>
              <a:t>MATRIZ DE CONFUSIÓN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1792224"/>
            <a:ext cx="987552" cy="603504"/>
          </a:xfrm>
          <a:prstGeom prst="rect">
            <a:avLst/>
          </a:prstGeom>
          <a:solidFill>
            <a:srgbClr val="0F1C2C"/>
          </a:solidFill>
          <a:ln w="6350">
            <a:solidFill>
              <a:srgbClr val="0F1C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792224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8FA8"/>
                </a:solidFill>
              </a:rPr>
              <a:t>Pred Spoof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80960" y="1792224"/>
            <a:ext cx="987552" cy="603504"/>
          </a:xfrm>
          <a:prstGeom prst="rect">
            <a:avLst/>
          </a:prstGeom>
          <a:solidFill>
            <a:srgbClr val="0F1C2C"/>
          </a:solidFill>
          <a:ln w="6350">
            <a:solidFill>
              <a:srgbClr val="0F1C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1792224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8FA8"/>
                </a:solidFill>
              </a:rPr>
              <a:t>Pred Live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0" y="2432304"/>
            <a:ext cx="987552" cy="603504"/>
          </a:xfrm>
          <a:prstGeom prst="rect">
            <a:avLst/>
          </a:prstGeom>
          <a:solidFill>
            <a:srgbClr val="0F1C2C"/>
          </a:solidFill>
          <a:ln w="6350">
            <a:solidFill>
              <a:srgbClr val="0F1C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2432304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8FA8"/>
                </a:solidFill>
              </a:rPr>
              <a:t>Real Spoof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75120" y="2432304"/>
            <a:ext cx="987552" cy="603504"/>
          </a:xfrm>
          <a:prstGeom prst="rect">
            <a:avLst/>
          </a:prstGeom>
          <a:solidFill>
            <a:srgbClr val="0D3B1F"/>
          </a:solidFill>
          <a:ln w="6350">
            <a:solidFill>
              <a:srgbClr val="0F1C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432304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676"/>
                </a:solidFill>
              </a:rPr>
              <a:t>64 ✓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80960" y="2432304"/>
            <a:ext cx="987552" cy="603504"/>
          </a:xfrm>
          <a:prstGeom prst="rect">
            <a:avLst/>
          </a:prstGeom>
          <a:solidFill>
            <a:srgbClr val="3B0D0D"/>
          </a:solidFill>
          <a:ln w="6350">
            <a:solidFill>
              <a:srgbClr val="0F1C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2432304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4B4B"/>
                </a:solidFill>
              </a:rPr>
              <a:t>10 ✗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0" y="3072384"/>
            <a:ext cx="987552" cy="603504"/>
          </a:xfrm>
          <a:prstGeom prst="rect">
            <a:avLst/>
          </a:prstGeom>
          <a:solidFill>
            <a:srgbClr val="0F1C2C"/>
          </a:solidFill>
          <a:ln w="6350">
            <a:solidFill>
              <a:srgbClr val="0F1C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3072384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8FA8"/>
                </a:solidFill>
              </a:rPr>
              <a:t>Real Live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75120" y="3072384"/>
            <a:ext cx="987552" cy="603504"/>
          </a:xfrm>
          <a:prstGeom prst="rect">
            <a:avLst/>
          </a:prstGeom>
          <a:solidFill>
            <a:srgbClr val="3B0D0D"/>
          </a:solidFill>
          <a:ln w="6350">
            <a:solidFill>
              <a:srgbClr val="0F1C2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3072384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4B4B"/>
                </a:solidFill>
              </a:rPr>
              <a:t>11 ✗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680960" y="3072384"/>
            <a:ext cx="987552" cy="603504"/>
          </a:xfrm>
          <a:prstGeom prst="rect">
            <a:avLst/>
          </a:prstGeom>
          <a:solidFill>
            <a:srgbClr val="0D3B1F"/>
          </a:solidFill>
          <a:ln w="6350">
            <a:solidFill>
              <a:srgbClr val="0F1C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3072384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676"/>
                </a:solidFill>
              </a:rPr>
              <a:t>63 ✓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11480" y="3200400"/>
            <a:ext cx="8321040" cy="713232"/>
          </a:xfrm>
          <a:prstGeom prst="roundRect">
            <a:avLst>
              <a:gd name="adj" fmla="val 15385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200400"/>
            <a:ext cx="54864" cy="713232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323697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</a:rPr>
              <a:t>Dataset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" y="345643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FA8"/>
                </a:solidFill>
              </a:rPr>
              <a:t>Kaggle real-vs-fake-anti-spoofing-video — 3 frames/vídeo (segundos 3, 5 y 7), partición de test disjunta del entrenamiento. Evaluación incluye curva ROC, distribución de scores y matriz de confusión.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" y="40050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Herramientas de calibración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11480" y="4297680"/>
            <a:ext cx="2697480" cy="548640"/>
          </a:xfrm>
          <a:prstGeom prst="roundRect">
            <a:avLst>
              <a:gd name="adj" fmla="val 20000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" y="4297680"/>
            <a:ext cx="54864" cy="54864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40" name="Text 38"/>
          <p:cNvSpPr/>
          <p:nvPr/>
        </p:nvSpPr>
        <p:spPr>
          <a:xfrm>
            <a:off x="539496" y="433425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676"/>
                </a:solidFill>
              </a:rPr>
              <a:t>evaluate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39496" y="45445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FA8"/>
                </a:solidFill>
              </a:rPr>
              <a:t>EER · ROC-AUC · F1 · TAR@FAR sobre pairs.csv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46120" y="4297680"/>
            <a:ext cx="2697480" cy="548640"/>
          </a:xfrm>
          <a:prstGeom prst="roundRect">
            <a:avLst>
              <a:gd name="adj" fmla="val 20000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46120" y="4297680"/>
            <a:ext cx="54864" cy="54864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4" name="Text 42"/>
          <p:cNvSpPr/>
          <p:nvPr/>
        </p:nvSpPr>
        <p:spPr>
          <a:xfrm>
            <a:off x="3374136" y="433425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9EFF"/>
                </a:solidFill>
              </a:rPr>
              <a:t>benchmark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3374136" y="45445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FA8"/>
                </a:solidFill>
              </a:rPr>
              <a:t>Latencia y separación coseno entre backends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80760" y="4297680"/>
            <a:ext cx="2697480" cy="548640"/>
          </a:xfrm>
          <a:prstGeom prst="roundRect">
            <a:avLst>
              <a:gd name="adj" fmla="val 20000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80760" y="4297680"/>
            <a:ext cx="54864" cy="548640"/>
          </a:xfrm>
          <a:prstGeom prst="rect">
            <a:avLst/>
          </a:prstGeom>
          <a:solidFill>
            <a:srgbClr val="B06EFF"/>
          </a:solidFill>
          <a:ln/>
        </p:spPr>
      </p:sp>
      <p:sp>
        <p:nvSpPr>
          <p:cNvPr id="48" name="Text 46"/>
          <p:cNvSpPr/>
          <p:nvPr/>
        </p:nvSpPr>
        <p:spPr>
          <a:xfrm>
            <a:off x="6208776" y="433425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6EFF"/>
                </a:solidFill>
              </a:rPr>
              <a:t>tune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208776" y="45445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FA8"/>
                </a:solidFill>
              </a:rPr>
              <a:t>Barrido de umbrales → actualiza config.yaml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11480" y="4773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</a:rPr>
              <a:t>08 / 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6350">
            <a:solidFill>
              <a:srgbClr val="4A6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E676"/>
                </a:solidFill>
              </a:rPr>
              <a:t>CAPÍTULO 4: PROPUESTA TÉCNICA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457200"/>
            <a:ext cx="64008" cy="65836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438912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PIPELINE: FINANZAS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05840" y="1719072"/>
            <a:ext cx="7132320" cy="0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481328"/>
            <a:ext cx="475488" cy="47548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4996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929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" y="200253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E676"/>
                </a:solidFill>
              </a:rPr>
              <a:t>INICIO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05840" y="1719072"/>
            <a:ext cx="1188720" cy="0"/>
          </a:xfrm>
          <a:prstGeom prst="line">
            <a:avLst/>
          </a:prstGeom>
          <a:noFill/>
          <a:ln w="12700">
            <a:solidFill>
              <a:srgbClr val="00E67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56816" y="1481328"/>
            <a:ext cx="475488" cy="47548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56816" y="14996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929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73936" y="200253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E676"/>
                </a:solidFill>
              </a:rPr>
              <a:t>INTERACCIÓN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94560" y="1719072"/>
            <a:ext cx="1188720" cy="0"/>
          </a:xfrm>
          <a:prstGeom prst="line">
            <a:avLst/>
          </a:prstGeom>
          <a:noFill/>
          <a:ln w="12700">
            <a:solidFill>
              <a:srgbClr val="00E67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45536" y="1481328"/>
            <a:ext cx="475488" cy="47548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45536" y="14996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929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62656" y="200253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E676"/>
                </a:solidFill>
              </a:rPr>
              <a:t>LIVENESS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83280" y="1719072"/>
            <a:ext cx="1188720" cy="0"/>
          </a:xfrm>
          <a:prstGeom prst="line">
            <a:avLst/>
          </a:prstGeom>
          <a:noFill/>
          <a:ln w="12700">
            <a:solidFill>
              <a:srgbClr val="00E67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34256" y="1481328"/>
            <a:ext cx="475488" cy="47548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34256" y="14996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929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51376" y="200253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E676"/>
                </a:solidFill>
              </a:rPr>
              <a:t>EMBEDDING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0" y="1719072"/>
            <a:ext cx="1188720" cy="0"/>
          </a:xfrm>
          <a:prstGeom prst="line">
            <a:avLst/>
          </a:prstGeom>
          <a:noFill/>
          <a:ln w="12700">
            <a:solidFill>
              <a:srgbClr val="00E67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22976" y="1481328"/>
            <a:ext cx="475488" cy="47548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22976" y="14996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929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40096" y="200253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E676"/>
                </a:solidFill>
              </a:rPr>
              <a:t>SEGURIDAD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760720" y="1719072"/>
            <a:ext cx="1188720" cy="0"/>
          </a:xfrm>
          <a:prstGeom prst="line">
            <a:avLst/>
          </a:prstGeom>
          <a:noFill/>
          <a:ln w="12700">
            <a:solidFill>
              <a:srgbClr val="00E67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11696" y="1481328"/>
            <a:ext cx="475488" cy="47548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11696" y="14996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929"/>
                </a:solidFill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28816" y="200253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E676"/>
                </a:solidFill>
              </a:rPr>
              <a:t>FINANZAS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900416" y="1481328"/>
            <a:ext cx="475488" cy="475488"/>
          </a:xfrm>
          <a:prstGeom prst="ellipse">
            <a:avLst/>
          </a:prstGeom>
          <a:solidFill>
            <a:srgbClr val="0F1C2C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00416" y="14996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080"/>
                </a:solidFill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17536" y="200253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</a:rPr>
              <a:t>CICLO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1480" y="22494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8FA8"/>
                </a:solidFill>
              </a:rPr>
              <a:t>Detector híbrido para control personal de transacciones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11480" y="2615184"/>
            <a:ext cx="4023360" cy="2121408"/>
          </a:xfrm>
          <a:prstGeom prst="roundRect">
            <a:avLst>
              <a:gd name="adj" fmla="val 5172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" y="2615184"/>
            <a:ext cx="4023360" cy="3657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27066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</a:rPr>
              <a:t>Regla de las 3-Sigmas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66928" y="2999232"/>
            <a:ext cx="37490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FA8"/>
                </a:solidFill>
              </a:rPr>
              <a:t>Detección univariante por categoría de gasto. Marca transacciones que superan μ ± 3σ en su categoría.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B8FA8"/>
                </a:solidFill>
              </a:rPr>
              <a:t>Fácilmente interpretable: aporta explicabilidad directa al usuario sin requerir conocimiento estadístico.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09160" y="2615184"/>
            <a:ext cx="4023360" cy="2121408"/>
          </a:xfrm>
          <a:prstGeom prst="roundRect">
            <a:avLst>
              <a:gd name="adj" fmla="val 5172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2615184"/>
            <a:ext cx="4023360" cy="36576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0" name="Text 38"/>
          <p:cNvSpPr/>
          <p:nvPr/>
        </p:nvSpPr>
        <p:spPr>
          <a:xfrm>
            <a:off x="4864608" y="27066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EFF"/>
                </a:solidFill>
              </a:rPr>
              <a:t>Isolation Forest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64608" y="2999232"/>
            <a:ext cx="37490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FA8"/>
                </a:solidFill>
              </a:rPr>
              <a:t>Detección multivariante sin supervisión. Captura combinaciones inusuales de: Cantidad, Área, Tipo, Mes y Día de la semana.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B8FA8"/>
                </a:solidFill>
              </a:rPr>
              <a:t>Modelo se reentrena tras cada confirmación: adaptación continua al perfil del usuario.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11480" y="4809744"/>
            <a:ext cx="8321040" cy="0"/>
          </a:xfrm>
          <a:prstGeom prst="roundRect">
            <a:avLst>
              <a:gd name="adj" fmla="val Infinity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" y="4773168"/>
            <a:ext cx="8321040" cy="0"/>
          </a:xfrm>
          <a:prstGeom prst="roundRect">
            <a:avLst>
              <a:gd name="adj" fmla="val Infinity"/>
            </a:avLst>
          </a:prstGeom>
          <a:solidFill>
            <a:srgbClr val="0C1929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773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</a:rPr>
              <a:t>09 / 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6350">
            <a:solidFill>
              <a:srgbClr val="4A6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474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676"/>
                </a:solidFill>
              </a:rPr>
              <a:t>CAPÍTULO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640080"/>
            <a:ext cx="64008" cy="65836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621792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B8FA8"/>
                </a:solidFill>
              </a:rPr>
              <a:t>La arquitectura modular demuestra que es posible construir un verificador facial robusto integrando componentes de deep learning consolidados con buenas prácticas criptográficas estándar.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11480" y="2286000"/>
            <a:ext cx="4041648" cy="1207008"/>
          </a:xfrm>
          <a:prstGeom prst="roundRect">
            <a:avLst>
              <a:gd name="adj" fmla="val 9091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2286000"/>
            <a:ext cx="4041648" cy="3657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7744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676"/>
                </a:solidFill>
              </a:rPr>
              <a:t>Sistema end-to-end funcional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688336"/>
            <a:ext cx="3767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FA8"/>
                </a:solidFill>
              </a:rPr>
              <a:t>Integración coherente de MTCNN, ArcFace/FaceNet y DenseNet201; arquitectura modular y sustituible.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3621024"/>
            <a:ext cx="4041648" cy="1207008"/>
          </a:xfrm>
          <a:prstGeom prst="roundRect">
            <a:avLst>
              <a:gd name="adj" fmla="val 9091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3621024"/>
            <a:ext cx="4041648" cy="36576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12464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9EFF"/>
                </a:solidFill>
              </a:rPr>
              <a:t>Calibración cuantitativa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023360"/>
            <a:ext cx="3767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FA8"/>
                </a:solidFill>
              </a:rPr>
              <a:t>AUC = 0.9394 con umbral óptimo 0.65; evaluate/benchmark/tune permiten ajustar FAR/FRR al contexto de despliegue.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09160" y="2286000"/>
            <a:ext cx="4041648" cy="1207008"/>
          </a:xfrm>
          <a:prstGeom prst="roundRect">
            <a:avLst>
              <a:gd name="adj" fmla="val 9091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2286000"/>
            <a:ext cx="4041648" cy="36576"/>
          </a:xfrm>
          <a:prstGeom prst="rect">
            <a:avLst/>
          </a:prstGeom>
          <a:solidFill>
            <a:srgbClr val="B06EFF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37744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6EFF"/>
                </a:solidFill>
              </a:rPr>
              <a:t>Seguridad by Design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46320" y="2688336"/>
            <a:ext cx="3767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FA8"/>
                </a:solidFill>
              </a:rPr>
              <a:t>Confidencialidad, integridad y autenticación de plantillas garantizadas. Account Lockout y liveness gate reducen superficie de ataque.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3621024"/>
            <a:ext cx="4041648" cy="1207008"/>
          </a:xfrm>
          <a:prstGeom prst="roundRect">
            <a:avLst>
              <a:gd name="adj" fmla="val 9091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621024"/>
            <a:ext cx="4041648" cy="3657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712464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676"/>
                </a:solidFill>
              </a:rPr>
              <a:t>Detección Financiera Híbrida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46320" y="4023360"/>
            <a:ext cx="3767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FA8"/>
                </a:solidFill>
              </a:rPr>
              <a:t>Combinación 3-Sigmas + Isolation Forest ofrece explicabilidad univariante y capacidad multivariante con reentrenamiento continuo.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1480" y="4773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</a:rPr>
              <a:t>10 / 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6350">
            <a:solidFill>
              <a:srgbClr val="4A6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474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676"/>
                </a:solidFill>
              </a:rPr>
              <a:t>CAPÍTULO 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640080"/>
            <a:ext cx="64008" cy="65836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621792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TRABAJO A FUTURO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4041648" cy="1481328"/>
          </a:xfrm>
          <a:prstGeom prst="roundRect">
            <a:avLst>
              <a:gd name="adj" fmla="val 7407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508760"/>
            <a:ext cx="4041648" cy="3657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0020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676"/>
                </a:solidFill>
              </a:rPr>
              <a:t>Liveness con Datos Más Diversos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1947672"/>
            <a:ext cx="376732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FA8"/>
                </a:solidFill>
              </a:rPr>
              <a:t>Entrenar el detector con conjuntos más amplios y variados para mejorar la generalización a nuevos vectores de ataque no vistos durante el entrenamiento.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3246120"/>
            <a:ext cx="4041648" cy="1481328"/>
          </a:xfrm>
          <a:prstGeom prst="roundRect">
            <a:avLst>
              <a:gd name="adj" fmla="val 7407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3246120"/>
            <a:ext cx="4041648" cy="36576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3756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9EFF"/>
                </a:solidFill>
              </a:rPr>
              <a:t>Verificación en Vídeo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685032"/>
            <a:ext cx="376732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FA8"/>
                </a:solidFill>
              </a:rPr>
              <a:t>Explorar verificación basada en secuencias de vídeo en lugar de imagen estática, aprovechando la variabilidad temporal para mejorar precisión y resistencia a spoofing.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1508760"/>
            <a:ext cx="4041648" cy="1481328"/>
          </a:xfrm>
          <a:prstGeom prst="roundRect">
            <a:avLst>
              <a:gd name="adj" fmla="val 7407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508760"/>
            <a:ext cx="4041648" cy="36576"/>
          </a:xfrm>
          <a:prstGeom prst="rect">
            <a:avLst/>
          </a:prstGeom>
          <a:solidFill>
            <a:srgbClr val="B06EFF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60020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6EFF"/>
                </a:solidFill>
              </a:rPr>
              <a:t>Cancellable Biometrics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46320" y="1947672"/>
            <a:ext cx="376732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FA8"/>
                </a:solidFill>
              </a:rPr>
              <a:t>Integrar mecanismos que permitan revocar y regenerar plantillas comprometidas sin necesidad de reinscripción del usuario.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3246120"/>
            <a:ext cx="4041648" cy="1481328"/>
          </a:xfrm>
          <a:prstGeom prst="roundRect">
            <a:avLst>
              <a:gd name="adj" fmla="val 7407"/>
            </a:avLst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3246120"/>
            <a:ext cx="4041648" cy="3657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33756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676"/>
                </a:solidFill>
              </a:rPr>
              <a:t>Integración con Prácticas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46320" y="3685032"/>
            <a:ext cx="376732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8FA8"/>
                </a:solidFill>
              </a:rPr>
              <a:t>Implementar el módulo financiero como tool dentro de un orquestador de agentes LangGraph avanzado, conectando con las funciones de las demás prácticas.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" y="4773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</a:rPr>
              <a:t>11 / 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6350">
            <a:solidFill>
              <a:srgbClr val="4A6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4A6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1887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¿PREGUNTAS?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0" y="254203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676"/>
                </a:solidFill>
              </a:rPr>
              <a:t>Gracias por su atención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74720" y="3182112"/>
            <a:ext cx="2194560" cy="0"/>
          </a:xfrm>
          <a:prstGeom prst="line">
            <a:avLst/>
          </a:prstGeom>
          <a:noFill/>
          <a:ln w="6350">
            <a:solidFill>
              <a:srgbClr val="4A6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34670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Diego Esclarín  |  Sofía Contreras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36576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FA8"/>
                </a:solidFill>
              </a:rPr>
              <a:t>Grado en Inteligencia Artificial  –  URJC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4773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</a:rPr>
              <a:t>12 / 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Práctica 5 – Autenticación Biométrica Segura</dc:title>
  <dc:subject>PptxGenJS Presentation</dc:subject>
  <dc:creator>PptxGenJS</dc:creator>
  <cp:lastModifiedBy>PptxGenJS</cp:lastModifiedBy>
  <cp:revision>1</cp:revision>
  <dcterms:created xsi:type="dcterms:W3CDTF">2026-04-27T16:44:22Z</dcterms:created>
  <dcterms:modified xsi:type="dcterms:W3CDTF">2026-04-27T16:44:22Z</dcterms:modified>
</cp:coreProperties>
</file>